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8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7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5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0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3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5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08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752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0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645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8053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66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79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08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13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125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83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5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0C86-B4D2-4B8E-B4FD-8B8B18264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i="1" dirty="0">
                <a:solidFill>
                  <a:srgbClr val="FF0000"/>
                </a:solidFill>
              </a:rPr>
              <a:t>Sentiment Analysis Using Machine Learning and LSTN</a:t>
            </a:r>
            <a:endParaRPr lang="en-IN" sz="3600" i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AF433-FF23-831B-3889-D4FA28D2E9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Project by </a:t>
            </a:r>
            <a:r>
              <a:rPr lang="en-US" dirty="0"/>
              <a:t>: </a:t>
            </a:r>
            <a:r>
              <a:rPr lang="en-US" b="1" i="1" dirty="0">
                <a:solidFill>
                  <a:schemeClr val="accent3">
                    <a:lumMod val="75000"/>
                  </a:schemeClr>
                </a:solidFill>
              </a:rPr>
              <a:t>Rahul Makwana</a:t>
            </a:r>
            <a:endParaRPr lang="en-IN" b="1" i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96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989" y="2367094"/>
            <a:ext cx="7773339" cy="3424107"/>
          </a:xfrm>
        </p:spPr>
        <p:txBody>
          <a:bodyPr/>
          <a:lstStyle/>
          <a:p>
            <a:r>
              <a:rPr dirty="0"/>
              <a:t>Sentiment Analysis identifies and categorizes opinions in text to determine attitude as positive, negative, or neutral.</a:t>
            </a:r>
          </a:p>
          <a:p>
            <a:endParaRPr dirty="0"/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Applications</a:t>
            </a:r>
            <a:r>
              <a:rPr lang="en-US" b="1" dirty="0">
                <a:solidFill>
                  <a:srgbClr val="0070C0"/>
                </a:solidFill>
              </a:rPr>
              <a:t> :-</a:t>
            </a:r>
            <a:endParaRPr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IN" dirty="0"/>
              <a:t>•</a:t>
            </a:r>
            <a:r>
              <a:rPr dirty="0"/>
              <a:t> Social media monitoring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IN" dirty="0"/>
              <a:t>•</a:t>
            </a:r>
            <a:r>
              <a:rPr dirty="0"/>
              <a:t> Product review analysis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IN" dirty="0"/>
              <a:t>•</a:t>
            </a:r>
            <a:r>
              <a:rPr dirty="0"/>
              <a:t> Customer feedback insights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A0F20E-94C0-4848-1B03-F0D9837269EA}"/>
              </a:ext>
            </a:extLst>
          </p:cNvPr>
          <p:cNvCxnSpPr>
            <a:cxnSpLocks/>
          </p:cNvCxnSpPr>
          <p:nvPr/>
        </p:nvCxnSpPr>
        <p:spPr>
          <a:xfrm>
            <a:off x="685331" y="1917290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 Classify text into sentiment categories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Handle imbalanced data using SMOTE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Compare ML and DL models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Improve accuracy through optimization (</a:t>
            </a:r>
            <a:r>
              <a:rPr dirty="0" err="1"/>
              <a:t>Optuna</a:t>
            </a:r>
            <a:r>
              <a:rPr dirty="0"/>
              <a:t>, </a:t>
            </a:r>
            <a:r>
              <a:rPr dirty="0" err="1"/>
              <a:t>AutoML</a:t>
            </a:r>
            <a:r>
              <a:rPr dirty="0"/>
              <a:t>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5494F8-BC40-B804-717C-D88D2558C8F5}"/>
              </a:ext>
            </a:extLst>
          </p:cNvPr>
          <p:cNvCxnSpPr>
            <a:cxnSpLocks/>
          </p:cNvCxnSpPr>
          <p:nvPr/>
        </p:nvCxnSpPr>
        <p:spPr>
          <a:xfrm>
            <a:off x="685331" y="1917290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5"/>
            <a:ext cx="8085043" cy="3060312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rgbClr val="0070C0"/>
                </a:solidFill>
              </a:rPr>
              <a:t> Total samples: </a:t>
            </a:r>
            <a:r>
              <a:rPr dirty="0"/>
              <a:t>4892</a:t>
            </a:r>
          </a:p>
          <a:p>
            <a:pPr marL="0" indent="0">
              <a:buNone/>
            </a:pPr>
            <a:r>
              <a:rPr dirty="0">
                <a:solidFill>
                  <a:srgbClr val="0070C0"/>
                </a:solidFill>
              </a:rPr>
              <a:t>Columns: </a:t>
            </a:r>
            <a:r>
              <a:rPr dirty="0"/>
              <a:t>Text, Sentiment</a:t>
            </a:r>
          </a:p>
          <a:p>
            <a:pPr marL="0" indent="0">
              <a:buNone/>
            </a:pPr>
            <a:r>
              <a:rPr dirty="0">
                <a:solidFill>
                  <a:srgbClr val="0070C0"/>
                </a:solidFill>
              </a:rPr>
              <a:t> Classes: </a:t>
            </a:r>
            <a:r>
              <a:rPr dirty="0"/>
              <a:t>Positive / Negative / Neutral</a:t>
            </a:r>
          </a:p>
          <a:p>
            <a:pPr marL="0" indent="0">
              <a:buNone/>
            </a:pPr>
            <a:r>
              <a:rPr dirty="0">
                <a:solidFill>
                  <a:srgbClr val="0070C0"/>
                </a:solidFill>
              </a:rPr>
              <a:t> Source: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dirty="0"/>
              <a:t> Product reviews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dirty="0">
                <a:solidFill>
                  <a:srgbClr val="0070C0"/>
                </a:solidFill>
              </a:rPr>
              <a:t>Preprocessing: </a:t>
            </a:r>
            <a:r>
              <a:rPr dirty="0" err="1"/>
              <a:t>stopword</a:t>
            </a:r>
            <a:r>
              <a:rPr dirty="0"/>
              <a:t> removal, tokenization,</a:t>
            </a:r>
            <a:r>
              <a:rPr lang="en-IN" dirty="0"/>
              <a:t> lemmatization</a:t>
            </a: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168F5E-45CC-2E60-77EF-FEEF665C39B5}"/>
              </a:ext>
            </a:extLst>
          </p:cNvPr>
          <p:cNvCxnSpPr>
            <a:cxnSpLocks/>
          </p:cNvCxnSpPr>
          <p:nvPr/>
        </p:nvCxnSpPr>
        <p:spPr>
          <a:xfrm>
            <a:off x="685331" y="1917290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Collection → Preprocessing → Train-Test Split → SMOTE → Feature Extraction (TF-IDF) → Model Training (LSTM/</a:t>
            </a:r>
            <a:r>
              <a:rPr lang="en-IN" dirty="0" err="1"/>
              <a:t>AutoML</a:t>
            </a:r>
            <a:r>
              <a:rPr lang="en-IN" dirty="0"/>
              <a:t>) → Evaluation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82F44A-C954-AF2E-5EB0-382DA299B461}"/>
              </a:ext>
            </a:extLst>
          </p:cNvPr>
          <p:cNvCxnSpPr>
            <a:cxnSpLocks/>
          </p:cNvCxnSpPr>
          <p:nvPr/>
        </p:nvCxnSpPr>
        <p:spPr>
          <a:xfrm>
            <a:off x="685332" y="1946786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Feature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b="1" i="1" dirty="0">
                <a:solidFill>
                  <a:srgbClr val="FF0000"/>
                </a:solidFill>
              </a:rPr>
              <a:t>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 TF-IDF vectorization to convert text into numerical 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SMOTE used to handle class imbalance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Smote apply only training data 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E758D9-5F7C-FA2D-FE7B-04A481D07590}"/>
              </a:ext>
            </a:extLst>
          </p:cNvPr>
          <p:cNvCxnSpPr>
            <a:cxnSpLocks/>
          </p:cNvCxnSpPr>
          <p:nvPr/>
        </p:nvCxnSpPr>
        <p:spPr>
          <a:xfrm>
            <a:off x="685332" y="1946786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294968"/>
            <a:ext cx="7773338" cy="1268361"/>
          </a:xfrm>
        </p:spPr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907461"/>
            <a:ext cx="7773339" cy="4454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b="1" u="sng" dirty="0">
                <a:solidFill>
                  <a:srgbClr val="0070C0"/>
                </a:solidFill>
              </a:rPr>
              <a:t>Models Used</a:t>
            </a:r>
            <a:r>
              <a:rPr lang="en-US" sz="2400" b="1" u="sng" dirty="0">
                <a:solidFill>
                  <a:srgbClr val="0070C0"/>
                </a:solidFill>
              </a:rPr>
              <a:t> of machine learning algorithms :</a:t>
            </a:r>
            <a:endParaRPr sz="2400" b="1" u="sng" dirty="0">
              <a:solidFill>
                <a:srgbClr val="0070C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600" dirty="0"/>
              <a:t>Logistic Regression</a:t>
            </a:r>
            <a:r>
              <a:rPr lang="en-US" sz="16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Decision tree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 err="1"/>
              <a:t>knn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Random Forest</a:t>
            </a:r>
          </a:p>
          <a:p>
            <a:pPr marL="0" indent="0">
              <a:lnSpc>
                <a:spcPct val="100000"/>
              </a:lnSpc>
              <a:buNone/>
            </a:pPr>
            <a:r>
              <a:rPr sz="1600" dirty="0"/>
              <a:t>Support Vector Machine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 err="1"/>
              <a:t>Adaboost</a:t>
            </a:r>
            <a:endParaRPr lang="en-IN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 err="1"/>
              <a:t>Catboost</a:t>
            </a:r>
            <a:endParaRPr lang="en-IN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u="sng" dirty="0">
                <a:solidFill>
                  <a:srgbClr val="0070C0"/>
                </a:solidFill>
              </a:rPr>
              <a:t>deep learning :</a:t>
            </a:r>
            <a:endParaRPr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LSTM (Deep Learning)</a:t>
            </a:r>
            <a:endParaRPr sz="1600" dirty="0"/>
          </a:p>
          <a:p>
            <a:pPr marL="0" indent="0">
              <a:buNone/>
            </a:pPr>
            <a:endParaRPr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3A5C15-A293-17B8-66DA-4D265131826D}"/>
              </a:ext>
            </a:extLst>
          </p:cNvPr>
          <p:cNvCxnSpPr>
            <a:cxnSpLocks/>
          </p:cNvCxnSpPr>
          <p:nvPr/>
        </p:nvCxnSpPr>
        <p:spPr>
          <a:xfrm>
            <a:off x="529478" y="1563329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Model Comparison:</a:t>
            </a:r>
          </a:p>
          <a:p>
            <a:endParaRPr dirty="0"/>
          </a:p>
          <a:p>
            <a:r>
              <a:rPr dirty="0"/>
              <a:t>Model | Accuracy | F1-Score</a:t>
            </a:r>
          </a:p>
          <a:p>
            <a:r>
              <a:rPr dirty="0"/>
              <a:t>----------------------------</a:t>
            </a:r>
          </a:p>
          <a:p>
            <a:r>
              <a:rPr lang="en-IN" dirty="0" err="1"/>
              <a:t>xgbclassifier</a:t>
            </a:r>
            <a:r>
              <a:rPr dirty="0"/>
              <a:t> | </a:t>
            </a:r>
            <a:r>
              <a:rPr lang="en-IN" dirty="0"/>
              <a:t>92</a:t>
            </a:r>
            <a:r>
              <a:rPr dirty="0"/>
              <a:t>% | 80%</a:t>
            </a:r>
          </a:p>
          <a:p>
            <a:r>
              <a:rPr dirty="0"/>
              <a:t>Random Forest | </a:t>
            </a:r>
            <a:r>
              <a:rPr lang="en-IN" dirty="0"/>
              <a:t>93</a:t>
            </a:r>
            <a:r>
              <a:rPr dirty="0"/>
              <a:t>% | </a:t>
            </a:r>
            <a:r>
              <a:rPr lang="en-IN" dirty="0"/>
              <a:t>79</a:t>
            </a:r>
            <a:r>
              <a:rPr dirty="0"/>
              <a:t>%</a:t>
            </a:r>
          </a:p>
          <a:p>
            <a:r>
              <a:rPr lang="en-IN" dirty="0" err="1"/>
              <a:t>lgbclassifier</a:t>
            </a:r>
            <a:r>
              <a:rPr dirty="0"/>
              <a:t> | </a:t>
            </a:r>
            <a:r>
              <a:rPr lang="en-IN" dirty="0"/>
              <a:t>94</a:t>
            </a:r>
            <a:r>
              <a:rPr dirty="0"/>
              <a:t>% | </a:t>
            </a:r>
            <a:r>
              <a:rPr lang="en-IN" dirty="0"/>
              <a:t>79</a:t>
            </a:r>
            <a:r>
              <a:rPr dirty="0"/>
              <a:t>%</a:t>
            </a:r>
          </a:p>
          <a:p>
            <a:endParaRPr dirty="0"/>
          </a:p>
          <a:p>
            <a:r>
              <a:rPr lang="en-IN" dirty="0"/>
              <a:t>Use </a:t>
            </a:r>
            <a:r>
              <a:rPr lang="en-IN" dirty="0" err="1"/>
              <a:t>optuna</a:t>
            </a:r>
            <a:r>
              <a:rPr lang="en-IN" dirty="0"/>
              <a:t> library for </a:t>
            </a:r>
            <a:r>
              <a:rPr dirty="0"/>
              <a:t> achieved the best performance.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07B7D3-CB8C-7928-2071-E1BAA7B34FFA}"/>
              </a:ext>
            </a:extLst>
          </p:cNvPr>
          <p:cNvCxnSpPr>
            <a:cxnSpLocks/>
          </p:cNvCxnSpPr>
          <p:nvPr/>
        </p:nvCxnSpPr>
        <p:spPr>
          <a:xfrm>
            <a:off x="529478" y="1897626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180476"/>
            <a:ext cx="7773338" cy="1371595"/>
          </a:xfrm>
        </p:spPr>
        <p:txBody>
          <a:bodyPr>
            <a:normAutofit/>
          </a:bodyPr>
          <a:lstStyle/>
          <a:p>
            <a:r>
              <a:rPr b="1" i="1" dirty="0">
                <a:solidFill>
                  <a:srgbClr val="FF0000"/>
                </a:solidFill>
              </a:rPr>
              <a:t>Confusion Matrix &amp; Classification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1768642"/>
            <a:ext cx="7773339" cy="46802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 Evaluated precision, recall, and F1-score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lang="en-IN" dirty="0" err="1"/>
              <a:t>xgb</a:t>
            </a:r>
            <a:r>
              <a:rPr lang="en-IN" dirty="0"/>
              <a:t> </a:t>
            </a:r>
            <a:r>
              <a:rPr lang="en-IN" dirty="0" err="1"/>
              <a:t>algoritms</a:t>
            </a:r>
            <a:r>
              <a:rPr lang="en-IN" dirty="0"/>
              <a:t> work </a:t>
            </a:r>
            <a:r>
              <a:rPr lang="en-IN" dirty="0" err="1"/>
              <a:t>bettarly</a:t>
            </a:r>
            <a:r>
              <a:rPr lang="en-IN" dirty="0"/>
              <a:t> </a:t>
            </a: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Minor misclassification between Neutral and </a:t>
            </a:r>
            <a:r>
              <a:rPr lang="en-IN" dirty="0"/>
              <a:t>negative </a:t>
            </a:r>
          </a:p>
          <a:p>
            <a:pPr marL="0" indent="0">
              <a:buNone/>
            </a:pPr>
            <a:r>
              <a:rPr lang="en-IN" dirty="0"/>
              <a:t>  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C9F16-2654-BC34-E1A6-A8DC77C2481F}"/>
              </a:ext>
            </a:extLst>
          </p:cNvPr>
          <p:cNvCxnSpPr>
            <a:cxnSpLocks/>
          </p:cNvCxnSpPr>
          <p:nvPr/>
        </p:nvCxnSpPr>
        <p:spPr>
          <a:xfrm>
            <a:off x="529478" y="1552071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BC28B7-54BA-CF5E-43DB-E9B8D2DDD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354608"/>
              </p:ext>
            </p:extLst>
          </p:nvPr>
        </p:nvGraphicFramePr>
        <p:xfrm>
          <a:off x="685799" y="3553509"/>
          <a:ext cx="7387390" cy="3111984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777166">
                  <a:extLst>
                    <a:ext uri="{9D8B030D-6E8A-4147-A177-3AD203B41FA5}">
                      <a16:colId xmlns:a16="http://schemas.microsoft.com/office/drawing/2014/main" val="1217724997"/>
                    </a:ext>
                  </a:extLst>
                </a:gridCol>
                <a:gridCol w="1870074">
                  <a:extLst>
                    <a:ext uri="{9D8B030D-6E8A-4147-A177-3AD203B41FA5}">
                      <a16:colId xmlns:a16="http://schemas.microsoft.com/office/drawing/2014/main" val="490106079"/>
                    </a:ext>
                  </a:extLst>
                </a:gridCol>
                <a:gridCol w="2179123">
                  <a:extLst>
                    <a:ext uri="{9D8B030D-6E8A-4147-A177-3AD203B41FA5}">
                      <a16:colId xmlns:a16="http://schemas.microsoft.com/office/drawing/2014/main" val="1898071077"/>
                    </a:ext>
                  </a:extLst>
                </a:gridCol>
                <a:gridCol w="1561027">
                  <a:extLst>
                    <a:ext uri="{9D8B030D-6E8A-4147-A177-3AD203B41FA5}">
                      <a16:colId xmlns:a16="http://schemas.microsoft.com/office/drawing/2014/main" val="2711130581"/>
                    </a:ext>
                  </a:extLst>
                </a:gridCol>
              </a:tblGrid>
              <a:tr h="518664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IN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effectLst/>
                        </a:rPr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effectLst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b="1" dirty="0"/>
                        <a:t>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258851"/>
                  </a:ext>
                </a:extLst>
              </a:tr>
              <a:tr h="51866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b="1">
                          <a:effectLst/>
                        </a:rPr>
                        <a:t>accurancy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99.51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effectLst/>
                        </a:rPr>
                        <a:t>92.93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effectLst/>
                        </a:rPr>
                        <a:t>99.03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649842"/>
                  </a:ext>
                </a:extLst>
              </a:tr>
              <a:tr h="51866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b="1">
                          <a:effectLst/>
                        </a:rPr>
                        <a:t>precision_score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NaN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92.69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99.03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3284916"/>
                  </a:ext>
                </a:extLst>
              </a:tr>
              <a:tr h="51866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b="1">
                          <a:effectLst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NaN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92.93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99.03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229176"/>
                  </a:ext>
                </a:extLst>
              </a:tr>
              <a:tr h="51866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b="1">
                          <a:effectLst/>
                        </a:rPr>
                        <a:t>f1_score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NaN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92.76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99.03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404626"/>
                  </a:ext>
                </a:extLst>
              </a:tr>
              <a:tr h="518664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IN" b="1">
                          <a:effectLst/>
                        </a:rPr>
                        <a:t>roc_score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NaN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79.98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effectLst/>
                        </a:rPr>
                        <a:t>99.89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34266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135E42B3-9D5C-48D0-31F0-A1A92E949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2658160"/>
            <a:ext cx="98375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Key </a:t>
            </a:r>
            <a:r>
              <a:rPr lang="en-IN" b="1" i="1" dirty="0">
                <a:solidFill>
                  <a:srgbClr val="FF0000"/>
                </a:solidFill>
              </a:rPr>
              <a:t>observations</a:t>
            </a:r>
            <a:endParaRPr b="1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7773339" cy="38723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lang="en-US" dirty="0" err="1"/>
              <a:t>XGBoost</a:t>
            </a:r>
            <a:r>
              <a:rPr lang="en-US" dirty="0"/>
              <a:t> achieved the </a:t>
            </a:r>
            <a:r>
              <a:rPr lang="en-US" b="1" dirty="0"/>
              <a:t>highest accuracy and best overall performance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handled </a:t>
            </a:r>
            <a:r>
              <a:rPr lang="en-US" b="1" dirty="0"/>
              <a:t>class imbalance</a:t>
            </a:r>
            <a:r>
              <a:rPr lang="en-US" dirty="0"/>
              <a:t> more effectively than other algorithms.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Other models showed </a:t>
            </a:r>
            <a:r>
              <a:rPr lang="en-US" b="1" dirty="0"/>
              <a:t>lower precision and F1-scores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XGBoost</a:t>
            </a:r>
            <a:r>
              <a:rPr lang="en-US" dirty="0"/>
              <a:t> captured </a:t>
            </a:r>
            <a:r>
              <a:rPr lang="en-US" b="1" dirty="0"/>
              <a:t>complex relationships and non-linear patterns</a:t>
            </a:r>
            <a:r>
              <a:rPr lang="en-US" dirty="0"/>
              <a:t> in the data</a:t>
            </a: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775709-54F3-DC86-C9DD-4E3381307128}"/>
              </a:ext>
            </a:extLst>
          </p:cNvPr>
          <p:cNvCxnSpPr>
            <a:cxnSpLocks/>
          </p:cNvCxnSpPr>
          <p:nvPr/>
        </p:nvCxnSpPr>
        <p:spPr>
          <a:xfrm>
            <a:off x="529478" y="2054942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7773339" cy="396151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 Achieved robust sentiment classification</a:t>
            </a:r>
            <a:r>
              <a:rPr lang="en-IN" dirty="0"/>
              <a:t> for machine learning algorithms</a:t>
            </a:r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Workflow is reusable for other NLP tasks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 Effective balance between interpretability and accuracy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US" dirty="0"/>
              <a:t>In this study, machine learning algorithms performed better compared to the LSTM model for multiclass sentiment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/>
              <a:t>XGBoost</a:t>
            </a:r>
            <a:r>
              <a:rPr lang="en-US" b="1" dirty="0"/>
              <a:t> is the best-performing model</a:t>
            </a:r>
            <a:r>
              <a:rPr lang="en-US" dirty="0"/>
              <a:t> for this sentiment analysis task.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provides </a:t>
            </a:r>
            <a:r>
              <a:rPr lang="en-US" b="1" dirty="0"/>
              <a:t>reliable and accurate predictions</a:t>
            </a:r>
            <a:r>
              <a:rPr lang="en-US" dirty="0"/>
              <a:t> compared to other algorithms.</a:t>
            </a:r>
          </a:p>
          <a:p>
            <a:pPr>
              <a:buFont typeface="Wingdings" panose="05000000000000000000" pitchFamily="2" charset="2"/>
              <a:buChar char="Ø"/>
            </a:pP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C79A83-3D5D-6D7F-D144-97977ADFF6A5}"/>
              </a:ext>
            </a:extLst>
          </p:cNvPr>
          <p:cNvCxnSpPr>
            <a:cxnSpLocks/>
          </p:cNvCxnSpPr>
          <p:nvPr/>
        </p:nvCxnSpPr>
        <p:spPr>
          <a:xfrm>
            <a:off x="529478" y="1907459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>
                <a:solidFill>
                  <a:srgbClr val="FF0000"/>
                </a:solidFill>
              </a:rPr>
              <a:t>References &amp; 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• Libraries: </a:t>
            </a:r>
            <a:r>
              <a:rPr dirty="0"/>
              <a:t>Scikit-learn, </a:t>
            </a:r>
            <a:r>
              <a:rPr lang="en-US" dirty="0" err="1"/>
              <a:t>optuna</a:t>
            </a:r>
            <a:r>
              <a:rPr dirty="0"/>
              <a:t>, TensorFlow, NLTK, Pandas</a:t>
            </a:r>
            <a:r>
              <a:rPr lang="en-US" dirty="0"/>
              <a:t> ,                      </a:t>
            </a:r>
            <a:r>
              <a:rPr lang="en-US" dirty="0" err="1"/>
              <a:t>numpy</a:t>
            </a:r>
            <a:r>
              <a:rPr lang="en-US" dirty="0"/>
              <a:t> , matplotlib , seaborn.</a:t>
            </a:r>
            <a:endParaRPr dirty="0"/>
          </a:p>
          <a:p>
            <a:pPr marL="0" indent="0">
              <a:buNone/>
            </a:pPr>
            <a:r>
              <a:rPr b="1" dirty="0">
                <a:solidFill>
                  <a:srgbClr val="0070C0"/>
                </a:solidFill>
              </a:rPr>
              <a:t>• Dataset: </a:t>
            </a:r>
            <a:r>
              <a:rPr dirty="0"/>
              <a:t>Open-source review</a:t>
            </a:r>
            <a:r>
              <a:rPr lang="en-IN" dirty="0"/>
              <a:t> dataset</a:t>
            </a:r>
            <a:endParaRPr lang="en-US" dirty="0"/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</a:rPr>
              <a:t>• Ac</a:t>
            </a:r>
            <a:r>
              <a:rPr lang="en-US" b="1" dirty="0" err="1">
                <a:solidFill>
                  <a:srgbClr val="0070C0"/>
                </a:solidFill>
              </a:rPr>
              <a:t>knowledgments</a:t>
            </a:r>
            <a:r>
              <a:rPr lang="en-US" b="1" dirty="0">
                <a:solidFill>
                  <a:srgbClr val="0070C0"/>
                </a:solidFill>
              </a:rPr>
              <a:t>: </a:t>
            </a:r>
            <a:r>
              <a:rPr lang="en-US" dirty="0"/>
              <a:t>Mentor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60024E-1D57-18AA-5074-AE547AE4AD97}"/>
              </a:ext>
            </a:extLst>
          </p:cNvPr>
          <p:cNvCxnSpPr>
            <a:cxnSpLocks/>
          </p:cNvCxnSpPr>
          <p:nvPr/>
        </p:nvCxnSpPr>
        <p:spPr>
          <a:xfrm>
            <a:off x="529478" y="2025446"/>
            <a:ext cx="808504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446</TotalTime>
  <Words>429</Words>
  <Application>Microsoft Office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Tw Cen MT</vt:lpstr>
      <vt:lpstr>Wingdings</vt:lpstr>
      <vt:lpstr>Droplet</vt:lpstr>
      <vt:lpstr>Sentiment Analysis Using Machine Learning and LSTN</vt:lpstr>
      <vt:lpstr>Introduction</vt:lpstr>
      <vt:lpstr>Objective</vt:lpstr>
      <vt:lpstr>Dataset Description</vt:lpstr>
      <vt:lpstr>Workflow</vt:lpstr>
      <vt:lpstr>Feature  Engineering</vt:lpstr>
      <vt:lpstr>Model Building</vt:lpstr>
      <vt:lpstr>Evaluation Metrics</vt:lpstr>
      <vt:lpstr>Confusion Matrix &amp; Classification Report</vt:lpstr>
      <vt:lpstr>Key observations</vt:lpstr>
      <vt:lpstr>Conclusion</vt:lpstr>
      <vt:lpstr>References &amp; 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Makwana</cp:lastModifiedBy>
  <cp:revision>5</cp:revision>
  <dcterms:created xsi:type="dcterms:W3CDTF">2013-01-27T09:14:16Z</dcterms:created>
  <dcterms:modified xsi:type="dcterms:W3CDTF">2025-11-12T16:15:42Z</dcterms:modified>
  <cp:category/>
</cp:coreProperties>
</file>